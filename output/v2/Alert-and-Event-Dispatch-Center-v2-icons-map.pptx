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interface screenshot, September 2026. Visual concept based on that interface. Camera footage and map are AI-generated illustrations, not evidence of a real incident. Counts and readings are example data from the supplied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interface screenshot, September 2026. Visual concept based on that interface. Camera footage and map are AI-generated illustrations, not evidence of a real incident. Counts and readings are example data from the supplied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interface screenshot, September 2026. Visual concept based on that interface. Camera footage and map are AI-generated illustrations, not evidence of a real incident. Counts and readings are example data from the supplied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interface screenshot, September 2026. Visual concept based on that interface. Camera footage and map are AI-generated illustrations, not evidence of a real incident. Counts and readings are example data from the supplied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interface screenshot, September 2026. Visual concept based on that interface. Camera footage and map are AI-generated illustrations, not evidence of a real incident. Counts and readings are example data from the supplied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interface screenshot, September 2026. Visual concept based on that interface. Camera footage and map are AI-generated illustrations, not evidence of a real incident. Counts and readings are example data from the supplied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interface screenshot, September 2026. Visual concept based on that interface. Camera footage and map are AI-generated illustrations, not evidence of a real incident. Counts and readings are example data from the supplied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2ED140-177D-424D-A84E-6CE6B47F5164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66675" cy="1238250"/>
          </a:xfrm>
          <a:prstGeom prst="roundRect">
            <a:avLst>
              <a:gd name="adj" fmla="val 50000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0AA833-A5EA-4788-B97F-E894DDEFA5F6}"/>
              </a:ext>
            </a:extLst>
          </p:cNvPr>
          <p:cNvSpPr>
            <a:spLocks noGrp="1"/>
          </p:cNvSpPr>
          <p:nvPr/>
        </p:nvSpPr>
        <p:spPr>
          <a:xfrm>
            <a:off x="800100" y="552450"/>
            <a:ext cx="5048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00" b="1" i="0">
                <a:solidFill>
                  <a:srgbClr val="0B2545"/>
                </a:solidFill>
              </a:defRPr>
            </a:pPr>
            <a:r>
              <a:rPr sz="3600" b="1" i="0">
                <a:solidFill>
                  <a:srgbClr val="0B2545"/>
                </a:solidFill>
              </a:rPr>
              <a:t>Alert &amp; Event</a:t>
            </a:r>
          </a:p>
          <a:p>
            <a:pPr algn="l">
              <a:buNone/>
              <a:defRPr sz="3600" b="1" i="0">
                <a:solidFill>
                  <a:srgbClr val="0B2545"/>
                </a:solidFill>
              </a:defRPr>
            </a:pPr>
            <a:r>
              <a:rPr sz="3600" b="1" i="0">
                <a:solidFill>
                  <a:srgbClr val="0B2545"/>
                </a:solidFill>
              </a:rPr>
              <a:t>Dispatch Center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B38C84-BAF5-444E-8443-47C3E4D4CBA4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 i="0">
                <a:solidFill>
                  <a:srgbClr val="5C6F87"/>
                </a:solidFill>
              </a:defRPr>
            </a:pPr>
            <a:r>
              <a:rPr sz="1500" b="0" i="0">
                <a:solidFill>
                  <a:srgbClr val="5C6F87"/>
                </a:solidFill>
              </a:rPr>
              <a:t>Visual proposal for mobile surveillance trailers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205799-574C-4F3F-A6BF-C1E899600F39}"/>
              </a:ext>
            </a:extLst>
          </p:cNvPr>
          <p:cNvSpPr>
            <a:spLocks noGrp="1"/>
          </p:cNvSpPr>
          <p:nvPr/>
        </p:nvSpPr>
        <p:spPr>
          <a:xfrm>
            <a:off x="800100" y="2638425"/>
            <a:ext cx="4191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0B2545"/>
                </a:solidFill>
              </a:defRPr>
            </a:pPr>
            <a:r>
              <a:rPr sz="1875" b="1" i="0">
                <a:solidFill>
                  <a:srgbClr val="0B2545"/>
                </a:solidFill>
              </a:rPr>
              <a:t>Event review and response
with a visible activity record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8578" y="717262"/>
            <a:ext cx="6177344" cy="3391697"/>
          </a:xfrm>
          <a:prstGeom prst="roundRect">
            <a:avLst>
              <a:gd name="adj" fmla="val 3288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A41807-F84E-4ABD-9776-67379D084CDC}"/>
              </a:ext>
            </a:extLst>
          </p:cNvPr>
          <p:cNvSpPr>
            <a:spLocks noGrp="1"/>
          </p:cNvSpPr>
          <p:nvPr/>
        </p:nvSpPr>
        <p:spPr>
          <a:xfrm>
            <a:off x="800100" y="48577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 i="0">
                <a:solidFill>
                  <a:srgbClr val="5C6F87"/>
                </a:solidFill>
              </a:defRPr>
            </a:pPr>
            <a:r>
              <a:rPr sz="1650" b="0" i="0">
                <a:solidFill>
                  <a:srgbClr val="5C6F87"/>
                </a:solidFill>
              </a:rPr>
              <a:t>A unified workspace for active incidents, equipment health, and critical events across sites.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AB3F0F0-162E-455F-8609-91C3C48CF31A}"/>
              </a:ext>
            </a:extLst>
          </p:cNvPr>
          <p:cNvSpPr>
            <a:spLocks noGrp="1"/>
          </p:cNvSpPr>
          <p:nvPr/>
        </p:nvSpPr>
        <p:spPr>
          <a:xfrm>
            <a:off x="800100" y="5524500"/>
            <a:ext cx="10001250" cy="0"/>
          </a:xfrm>
          <a:prstGeom prst="line">
            <a:avLst/>
          </a:prstGeom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0A1320-419F-43C5-9643-7F9CDE108108}"/>
              </a:ext>
            </a:extLst>
          </p:cNvPr>
          <p:cNvSpPr>
            <a:spLocks noGrp="1"/>
          </p:cNvSpPr>
          <p:nvPr/>
        </p:nvSpPr>
        <p:spPr>
          <a:xfrm>
            <a:off x="800100" y="5753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087FE8"/>
                </a:solidFill>
              </a:defRPr>
            </a:pPr>
            <a:r>
              <a:rPr sz="1050" b="1" i="0">
                <a:solidFill>
                  <a:srgbClr val="087FE8"/>
                </a:solidFill>
              </a:rPr>
              <a:t>Visual proposal v2</a:t>
            </a:r>
          </a:p>
        </p:txBody>
      </p:sp>
    </p:spTree>
    <p:extLst>
      <p:ext uri="{BB962C8B-B14F-4D97-AF65-F5344CB8AC3E}">
        <p14:creationId xmlns:p14="http://schemas.microsoft.com/office/powerpoint/2010/main" val="759367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BC973C-FC94-43BC-BA06-5566A2731B3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66675" cy="361950"/>
          </a:xfrm>
          <a:prstGeom prst="roundRect">
            <a:avLst>
              <a:gd name="adj" fmla="val 50000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8645A4-2B67-419B-8FF5-41D4C2645949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87FE8"/>
                </a:solidFill>
              </a:defRPr>
            </a:pPr>
            <a:r>
              <a:rPr sz="900" b="1" i="0">
                <a:solidFill>
                  <a:srgbClr val="087FE8"/>
                </a:solidFill>
              </a:rPr>
              <a:t>ALERT &amp; EVENT DISPATCH CENTER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20B67D-39FE-477E-A708-FCEDE053E50F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 i="0">
                <a:solidFill>
                  <a:srgbClr val="5C6F87"/>
                </a:solidFill>
              </a:defRPr>
            </a:pPr>
            <a:r>
              <a:rPr sz="900" b="0" i="0">
                <a:solidFill>
                  <a:srgbClr val="5C6F87"/>
                </a:solidFill>
              </a:rPr>
              <a:t>02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BDE22BD-7D56-4968-ADAB-0DC18F9B6146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11125200" cy="0"/>
          </a:xfrm>
          <a:prstGeom prst="line">
            <a:avLst/>
          </a:prstGeom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981DDC-A28F-43E5-9256-56E7E8487C1D}"/>
              </a:ext>
            </a:extLst>
          </p:cNvPr>
          <p:cNvSpPr>
            <a:spLocks noGrp="1"/>
          </p:cNvSpPr>
          <p:nvPr/>
        </p:nvSpPr>
        <p:spPr>
          <a:xfrm>
            <a:off x="669839" y="9334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 i="0">
                <a:solidFill>
                  <a:srgbClr val="0B2545"/>
                </a:solidFill>
              </a:defRPr>
            </a:pPr>
            <a:r>
              <a:rPr sz="2700" b="1" i="0" dirty="0">
                <a:solidFill>
                  <a:srgbClr val="0B2545"/>
                </a:solidFill>
              </a:rPr>
              <a:t>A unified event workspace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94C7C0-C755-4E66-8D32-7023781AEA97}"/>
              </a:ext>
            </a:extLst>
          </p:cNvPr>
          <p:cNvSpPr>
            <a:spLocks noGrp="1"/>
          </p:cNvSpPr>
          <p:nvPr/>
        </p:nvSpPr>
        <p:spPr>
          <a:xfrm>
            <a:off x="695325" y="151241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5C6F87"/>
                </a:solidFill>
              </a:defRPr>
            </a:pPr>
            <a:r>
              <a:rPr sz="1425" b="0" i="0" dirty="0">
                <a:solidFill>
                  <a:srgbClr val="5C6F87"/>
                </a:solidFill>
              </a:rPr>
              <a:t>The incident queue, event evidence, and recent critical events share one screen.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76499" y="1977081"/>
            <a:ext cx="8477251" cy="4654472"/>
          </a:xfrm>
          <a:prstGeom prst="roundRect">
            <a:avLst>
              <a:gd name="adj" fmla="val 2906"/>
            </a:avLst>
          </a:prstGeom>
        </p:spPr>
      </p:pic>
    </p:spTree>
    <p:extLst>
      <p:ext uri="{BB962C8B-B14F-4D97-AF65-F5344CB8AC3E}">
        <p14:creationId xmlns:p14="http://schemas.microsoft.com/office/powerpoint/2010/main" val="173444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C89D7CF-83D6-45DA-95D1-8E9F06001E16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66675" cy="361950"/>
          </a:xfrm>
          <a:prstGeom prst="roundRect">
            <a:avLst>
              <a:gd name="adj" fmla="val 50000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535722-8D39-4DD4-9379-2A5F0271EF94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87FE8"/>
                </a:solidFill>
              </a:defRPr>
            </a:pPr>
            <a:r>
              <a:rPr sz="900" b="1" i="0">
                <a:solidFill>
                  <a:srgbClr val="087FE8"/>
                </a:solidFill>
              </a:rPr>
              <a:t>ALERT &amp; EVENT DISPATCH CENTER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1EF4B9-D771-4FB3-A567-22F094559ADF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 i="0">
                <a:solidFill>
                  <a:srgbClr val="5C6F87"/>
                </a:solidFill>
              </a:defRPr>
            </a:pPr>
            <a:r>
              <a:rPr sz="900" b="0" i="0">
                <a:solidFill>
                  <a:srgbClr val="5C6F87"/>
                </a:solidFill>
              </a:rPr>
              <a:t>03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04C09BF-9DEB-4BCA-AD33-DEE432D027C8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11125200" cy="0"/>
          </a:xfrm>
          <a:prstGeom prst="line">
            <a:avLst/>
          </a:prstGeom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59F078-022A-4703-A121-3D5E1B7B3069}"/>
              </a:ext>
            </a:extLst>
          </p:cNvPr>
          <p:cNvSpPr>
            <a:spLocks noGrp="1"/>
          </p:cNvSpPr>
          <p:nvPr/>
        </p:nvSpPr>
        <p:spPr>
          <a:xfrm>
            <a:off x="781050" y="11239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 i="0">
                <a:solidFill>
                  <a:srgbClr val="0B2545"/>
                </a:solidFill>
              </a:defRPr>
            </a:pPr>
            <a:r>
              <a:rPr sz="2700" b="1" i="0">
                <a:solidFill>
                  <a:srgbClr val="0B2545"/>
                </a:solidFill>
              </a:rPr>
              <a:t>Incident status and priority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D9E0A6-514E-4296-9221-3FDCFE76A445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5C6F87"/>
                </a:solidFill>
              </a:defRPr>
            </a:pPr>
            <a:r>
              <a:rPr sz="1425" b="0" i="0">
                <a:solidFill>
                  <a:srgbClr val="5C6F87"/>
                </a:solidFill>
              </a:rPr>
              <a:t>Active events remain grouped by review status, with resolved history below.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23656" y="2190750"/>
            <a:ext cx="2345014" cy="4286250"/>
          </a:xfrm>
          <a:prstGeom prst="roundRect">
            <a:avLst>
              <a:gd name="adj" fmla="val 3478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005042-C409-48F8-AAD0-672515622223}"/>
              </a:ext>
            </a:extLst>
          </p:cNvPr>
          <p:cNvSpPr>
            <a:spLocks noGrp="1"/>
          </p:cNvSpPr>
          <p:nvPr/>
        </p:nvSpPr>
        <p:spPr>
          <a:xfrm>
            <a:off x="723900" y="240982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700579-BF70-47F5-A8E5-E66563E0C7E8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0B2545"/>
                </a:solidFill>
              </a:defRPr>
            </a:pPr>
            <a:r>
              <a:rPr sz="1575" b="1" i="0">
                <a:solidFill>
                  <a:srgbClr val="0B2545"/>
                </a:solidFill>
              </a:rPr>
              <a:t>A visible worklist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92CB4B-7398-454E-822D-CCE6F307151A}"/>
              </a:ext>
            </a:extLst>
          </p:cNvPr>
          <p:cNvSpPr>
            <a:spLocks noGrp="1"/>
          </p:cNvSpPr>
          <p:nvPr/>
        </p:nvSpPr>
        <p:spPr>
          <a:xfrm>
            <a:off x="990600" y="2695575"/>
            <a:ext cx="3667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F87"/>
                </a:solidFill>
              </a:defRPr>
            </a:pPr>
            <a:r>
              <a:rPr sz="1275" b="0" i="0">
                <a:solidFill>
                  <a:srgbClr val="5C6F87"/>
                </a:solidFill>
              </a:rPr>
              <a:t>The example shows 6 Unreviewed and 4 In Progress events. Resolved history has its own count and empty state.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7679B4-8A83-418F-9F73-35E2D64D0AEE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AF9901-2725-4C6B-B967-F852A58E51DD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0B2545"/>
                </a:solidFill>
              </a:defRPr>
            </a:pPr>
            <a:r>
              <a:rPr sz="1575" b="1" i="0">
                <a:solidFill>
                  <a:srgbClr val="0B2545"/>
                </a:solidFill>
              </a:rPr>
              <a:t>Severity at a glance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C82F9C-7662-4BE6-8115-B2178D8756CC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3667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F87"/>
                </a:solidFill>
              </a:defRPr>
            </a:pPr>
            <a:r>
              <a:rPr sz="1275" b="0" i="0">
                <a:solidFill>
                  <a:srgbClr val="5C6F87"/>
                </a:solidFill>
              </a:rPr>
              <a:t>Critical, High, Medium, and Low labels accompany each event, together with its site, trailer, and elapsed time.</a:t>
            </a:r>
          </a:p>
        </p:txBody>
      </p:sp>
    </p:spTree>
    <p:extLst>
      <p:ext uri="{BB962C8B-B14F-4D97-AF65-F5344CB8AC3E}">
        <p14:creationId xmlns:p14="http://schemas.microsoft.com/office/powerpoint/2010/main" val="79030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128AD57-BE73-40D5-B352-55CECF16ADD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66675" cy="361950"/>
          </a:xfrm>
          <a:prstGeom prst="roundRect">
            <a:avLst>
              <a:gd name="adj" fmla="val 50000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F51E50-BE60-4C46-B031-7B6C084B0535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87FE8"/>
                </a:solidFill>
              </a:defRPr>
            </a:pPr>
            <a:r>
              <a:rPr sz="900" b="1" i="0">
                <a:solidFill>
                  <a:srgbClr val="087FE8"/>
                </a:solidFill>
              </a:rPr>
              <a:t>ALERT &amp; EVENT DISPATCH CENTER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B074E-A95F-468A-96BD-B718A62725E8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 i="0">
                <a:solidFill>
                  <a:srgbClr val="5C6F87"/>
                </a:solidFill>
              </a:defRPr>
            </a:pPr>
            <a:r>
              <a:rPr sz="900" b="0" i="0">
                <a:solidFill>
                  <a:srgbClr val="5C6F87"/>
                </a:solidFill>
              </a:rPr>
              <a:t>04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825D334-CDF6-4F6F-BE2D-B98FBDDB0DAA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11125200" cy="0"/>
          </a:xfrm>
          <a:prstGeom prst="line">
            <a:avLst/>
          </a:prstGeom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9C1922-BCD2-4D4F-8218-7C400461BD35}"/>
              </a:ext>
            </a:extLst>
          </p:cNvPr>
          <p:cNvSpPr>
            <a:spLocks noGrp="1"/>
          </p:cNvSpPr>
          <p:nvPr/>
        </p:nvSpPr>
        <p:spPr>
          <a:xfrm>
            <a:off x="781050" y="11239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 i="0">
                <a:solidFill>
                  <a:srgbClr val="0B2545"/>
                </a:solidFill>
              </a:defRPr>
            </a:pPr>
            <a:r>
              <a:rPr sz="2700" b="1" i="0">
                <a:solidFill>
                  <a:srgbClr val="0B2545"/>
                </a:solidFill>
              </a:rPr>
              <a:t>Event details and recorded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28FCDC-E786-41B6-A781-1A319174383C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5C6F87"/>
                </a:solidFill>
              </a:defRPr>
            </a:pPr>
            <a:r>
              <a:rPr sz="1425" b="0" i="0">
                <a:solidFill>
                  <a:srgbClr val="5C6F87"/>
                </a:solidFill>
              </a:rPr>
              <a:t>The selected event brings its operational context, playback, and map location together.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1625" y="2622571"/>
            <a:ext cx="5762625" cy="3426989"/>
          </a:xfrm>
          <a:prstGeom prst="roundRect">
            <a:avLst>
              <a:gd name="adj" fmla="val 296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DDB9B8-408D-490B-848D-80667FA302BF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9A1DF0-9070-4499-AC22-229FFADB3D66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0B2545"/>
                </a:solidFill>
              </a:defRPr>
            </a:pPr>
            <a:r>
              <a:rPr sz="1575" b="1" i="0">
                <a:solidFill>
                  <a:srgbClr val="0B2545"/>
                </a:solidFill>
              </a:rPr>
              <a:t>Selected event context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C74E1A-4384-4B70-977E-6A72DCED3630}"/>
              </a:ext>
            </a:extLst>
          </p:cNvPr>
          <p:cNvSpPr>
            <a:spLocks noGrp="1"/>
          </p:cNvSpPr>
          <p:nvPr/>
        </p:nvSpPr>
        <p:spPr>
          <a:xfrm>
            <a:off x="990600" y="2886075"/>
            <a:ext cx="3667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F87"/>
                </a:solidFill>
              </a:defRPr>
            </a:pPr>
            <a:r>
              <a:rPr sz="1275" b="0" i="0">
                <a:solidFill>
                  <a:srgbClr val="5C6F87"/>
                </a:solidFill>
              </a:rPr>
              <a:t>Customer, site, trailer, severity, and timestamps identify the incident under review.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7E82D1-3458-4A10-9008-9787942F4FDD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E4DF3E-1143-47F5-A82C-A0BCE799C526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0B2545"/>
                </a:solidFill>
              </a:defRPr>
            </a:pPr>
            <a:r>
              <a:rPr sz="1575" b="1" i="0">
                <a:solidFill>
                  <a:srgbClr val="0B2545"/>
                </a:solidFill>
              </a:rPr>
              <a:t>Playback and location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72A539-3222-4D45-88D0-5307B60E9C42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3667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F87"/>
                </a:solidFill>
              </a:defRPr>
            </a:pPr>
            <a:r>
              <a:rPr sz="1275" b="0" i="0">
                <a:solidFill>
                  <a:srgbClr val="5C6F87"/>
                </a:solidFill>
              </a:rPr>
              <a:t>Recorded camera evidence supports review of the event. View Live remains a separate response action.</a:t>
            </a:r>
          </a:p>
        </p:txBody>
      </p:sp>
    </p:spTree>
    <p:extLst>
      <p:ext uri="{BB962C8B-B14F-4D97-AF65-F5344CB8AC3E}">
        <p14:creationId xmlns:p14="http://schemas.microsoft.com/office/powerpoint/2010/main" val="1507841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104C1A-2939-4168-9F69-D7057B9BCA4A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66675" cy="361950"/>
          </a:xfrm>
          <a:prstGeom prst="roundRect">
            <a:avLst>
              <a:gd name="adj" fmla="val 50000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9AEEA-B64C-46F3-8024-54DDC4A69301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87FE8"/>
                </a:solidFill>
              </a:defRPr>
            </a:pPr>
            <a:r>
              <a:rPr sz="900" b="1" i="0">
                <a:solidFill>
                  <a:srgbClr val="087FE8"/>
                </a:solidFill>
              </a:rPr>
              <a:t>ALERT &amp; EVENT DISPATCH CENTER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9FD30-B344-4B54-AD5E-EBE03A2DF819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 i="0">
                <a:solidFill>
                  <a:srgbClr val="5C6F87"/>
                </a:solidFill>
              </a:defRPr>
            </a:pPr>
            <a:r>
              <a:rPr sz="900" b="0" i="0">
                <a:solidFill>
                  <a:srgbClr val="5C6F87"/>
                </a:solidFill>
              </a:rPr>
              <a:t>05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C9BD083-3EF2-4ED8-96FC-ACBB082DF3C7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11125200" cy="0"/>
          </a:xfrm>
          <a:prstGeom prst="line">
            <a:avLst/>
          </a:prstGeom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6E4910-B414-4D42-8276-043436FFA778}"/>
              </a:ext>
            </a:extLst>
          </p:cNvPr>
          <p:cNvSpPr>
            <a:spLocks noGrp="1"/>
          </p:cNvSpPr>
          <p:nvPr/>
        </p:nvSpPr>
        <p:spPr>
          <a:xfrm>
            <a:off x="781050" y="11239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 i="0">
                <a:solidFill>
                  <a:srgbClr val="0B2545"/>
                </a:solidFill>
              </a:defRPr>
            </a:pPr>
            <a:r>
              <a:rPr sz="2700" b="1" i="0">
                <a:solidFill>
                  <a:srgbClr val="0B2545"/>
                </a:solidFill>
              </a:rPr>
              <a:t>Equipment health and camera availability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6A9F8F-8369-4E1D-9AB1-0217771B9738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5C6F87"/>
                </a:solidFill>
              </a:defRPr>
            </a:pPr>
            <a:r>
              <a:rPr sz="1425" b="0" i="0">
                <a:solidFill>
                  <a:srgbClr val="5C6F87"/>
                </a:solidFill>
              </a:rPr>
              <a:t>Equipment readings stay visible while the operator reviews an incident.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1237" y="2952750"/>
            <a:ext cx="10089525" cy="1457516"/>
          </a:xfrm>
          <a:prstGeom prst="roundRect">
            <a:avLst>
              <a:gd name="adj" fmla="val 6557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74D04F-581F-496E-9D21-4F30F8C7F6AB}"/>
              </a:ext>
            </a:extLst>
          </p:cNvPr>
          <p:cNvSpPr>
            <a:spLocks noGrp="1"/>
          </p:cNvSpPr>
          <p:nvPr/>
        </p:nvSpPr>
        <p:spPr>
          <a:xfrm>
            <a:off x="1619250" y="5257800"/>
            <a:ext cx="895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0B2545"/>
                </a:solidFill>
              </a:defRPr>
            </a:pPr>
            <a:r>
              <a:rPr sz="1800" b="1" i="0">
                <a:solidFill>
                  <a:srgbClr val="0B2545"/>
                </a:solidFill>
              </a:rPr>
              <a:t>Cameras shows 3 of 4 available, with 1 offline.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9FA038-11E7-4C75-9566-97EE9359A2CE}"/>
              </a:ext>
            </a:extLst>
          </p:cNvPr>
          <p:cNvSpPr>
            <a:spLocks noGrp="1"/>
          </p:cNvSpPr>
          <p:nvPr/>
        </p:nvSpPr>
        <p:spPr>
          <a:xfrm>
            <a:off x="1619250" y="571500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 i="0">
                <a:solidFill>
                  <a:srgbClr val="5C6F87"/>
                </a:solidFill>
              </a:defRPr>
            </a:pPr>
            <a:r>
              <a:rPr sz="1350" b="0" i="0">
                <a:solidFill>
                  <a:srgbClr val="5C6F87"/>
                </a:solidFill>
              </a:rPr>
              <a:t>Battery, fuel level, network, and temperature provide the rest of the equipment context.</a:t>
            </a:r>
          </a:p>
        </p:txBody>
      </p:sp>
    </p:spTree>
    <p:extLst>
      <p:ext uri="{BB962C8B-B14F-4D97-AF65-F5344CB8AC3E}">
        <p14:creationId xmlns:p14="http://schemas.microsoft.com/office/powerpoint/2010/main" val="412989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C61A86-44BF-4082-88CF-FAA869F0CDDB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66675" cy="361950"/>
          </a:xfrm>
          <a:prstGeom prst="roundRect">
            <a:avLst>
              <a:gd name="adj" fmla="val 50000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3149AF-6196-4B86-B8DD-80B7A7338ECC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87FE8"/>
                </a:solidFill>
              </a:defRPr>
            </a:pPr>
            <a:r>
              <a:rPr sz="900" b="1" i="0">
                <a:solidFill>
                  <a:srgbClr val="087FE8"/>
                </a:solidFill>
              </a:rPr>
              <a:t>ALERT &amp; EVENT DISPATCH CENTER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DC2DCF-500F-4462-B1E4-9B546BE903E1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 i="0">
                <a:solidFill>
                  <a:srgbClr val="5C6F87"/>
                </a:solidFill>
              </a:defRPr>
            </a:pPr>
            <a:r>
              <a:rPr sz="900" b="0" i="0">
                <a:solidFill>
                  <a:srgbClr val="5C6F87"/>
                </a:solidFill>
              </a:rPr>
              <a:t>06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33F8B0A-567A-4335-9F3C-5403982F8EE4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11125200" cy="0"/>
          </a:xfrm>
          <a:prstGeom prst="line">
            <a:avLst/>
          </a:prstGeom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54B5EF-385F-40F8-BBB1-B1F5B3B83339}"/>
              </a:ext>
            </a:extLst>
          </p:cNvPr>
          <p:cNvSpPr>
            <a:spLocks noGrp="1"/>
          </p:cNvSpPr>
          <p:nvPr/>
        </p:nvSpPr>
        <p:spPr>
          <a:xfrm>
            <a:off x="781050" y="11239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 i="0">
                <a:solidFill>
                  <a:srgbClr val="0B2545"/>
                </a:solidFill>
              </a:defRPr>
            </a:pPr>
            <a:r>
              <a:rPr sz="2700" b="1" i="0">
                <a:solidFill>
                  <a:srgbClr val="0B2545"/>
                </a:solidFill>
              </a:rPr>
              <a:t>Recent critical events and event notes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1B5FB3-51DB-4361-9EC2-8940186E0B50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5C6F87"/>
                </a:solidFill>
              </a:defRPr>
            </a:pPr>
            <a:r>
              <a:rPr sz="1425" b="0" i="0">
                <a:solidFill>
                  <a:srgbClr val="5C6F87"/>
                </a:solidFill>
              </a:rPr>
              <a:t>Last Critical Events brings recent security incidents from multiple sites into view.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66345" y="2238375"/>
            <a:ext cx="2869559" cy="4185095"/>
          </a:xfrm>
          <a:prstGeom prst="roundRect">
            <a:avLst>
              <a:gd name="adj" fmla="val 3429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A411DC-61CE-4432-8290-909527A5EFA3}"/>
              </a:ext>
            </a:extLst>
          </p:cNvPr>
          <p:cNvSpPr>
            <a:spLocks noGrp="1"/>
          </p:cNvSpPr>
          <p:nvPr/>
        </p:nvSpPr>
        <p:spPr>
          <a:xfrm>
            <a:off x="723900" y="288607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7E98C6-D086-4351-89F8-0253A63A5C3E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0B2545"/>
                </a:solidFill>
              </a:defRPr>
            </a:pPr>
            <a:r>
              <a:rPr sz="1575" b="1" i="0">
                <a:solidFill>
                  <a:srgbClr val="0B2545"/>
                </a:solidFill>
              </a:rPr>
              <a:t>Critical events across sites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F218DC-C7EE-4F21-81F8-562FF3C6268D}"/>
              </a:ext>
            </a:extLst>
          </p:cNvPr>
          <p:cNvSpPr>
            <a:spLocks noGrp="1"/>
          </p:cNvSpPr>
          <p:nvPr/>
        </p:nvSpPr>
        <p:spPr>
          <a:xfrm>
            <a:off x="990600" y="3171825"/>
            <a:ext cx="3667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F87"/>
                </a:solidFill>
              </a:defRPr>
            </a:pPr>
            <a:r>
              <a:rPr sz="1275" b="0" i="0">
                <a:solidFill>
                  <a:srgbClr val="5C6F87"/>
                </a:solidFill>
              </a:rPr>
              <a:t>Each entry shows its site and trailer, elapsed time, and review status for a quick operational scan.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CEA017-96B5-4794-934F-3881AE7703A1}"/>
              </a:ext>
            </a:extLst>
          </p:cNvPr>
          <p:cNvSpPr>
            <a:spLocks noGrp="1"/>
          </p:cNvSpPr>
          <p:nvPr/>
        </p:nvSpPr>
        <p:spPr>
          <a:xfrm>
            <a:off x="723900" y="460057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7FE3DA-EB6D-4C37-A45A-64DAB282B3FB}"/>
              </a:ext>
            </a:extLst>
          </p:cNvPr>
          <p:cNvSpPr>
            <a:spLocks noGrp="1"/>
          </p:cNvSpPr>
          <p:nvPr/>
        </p:nvSpPr>
        <p:spPr>
          <a:xfrm>
            <a:off x="990600" y="45720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0B2545"/>
                </a:solidFill>
              </a:defRPr>
            </a:pPr>
            <a:r>
              <a:rPr sz="1575" b="1" i="0">
                <a:solidFill>
                  <a:srgbClr val="0B2545"/>
                </a:solidFill>
              </a:rPr>
              <a:t>Notes for the selected event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C7BCC3-D511-4764-AE57-8254F98AE2BD}"/>
              </a:ext>
            </a:extLst>
          </p:cNvPr>
          <p:cNvSpPr>
            <a:spLocks noGrp="1"/>
          </p:cNvSpPr>
          <p:nvPr/>
        </p:nvSpPr>
        <p:spPr>
          <a:xfrm>
            <a:off x="990600" y="4886325"/>
            <a:ext cx="3667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F87"/>
                </a:solidFill>
              </a:defRPr>
            </a:pPr>
            <a:r>
              <a:rPr sz="1275" b="0" i="0">
                <a:solidFill>
                  <a:srgbClr val="5C6F87"/>
                </a:solidFill>
              </a:rPr>
              <a:t>The Event Notes panel provides space for observations and follow-up context, with an Add Note action.</a:t>
            </a:r>
          </a:p>
        </p:txBody>
      </p:sp>
    </p:spTree>
    <p:extLst>
      <p:ext uri="{BB962C8B-B14F-4D97-AF65-F5344CB8AC3E}">
        <p14:creationId xmlns:p14="http://schemas.microsoft.com/office/powerpoint/2010/main" val="139172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2B7A1D-515F-4974-876A-EF0AD7E5B183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66675" cy="361950"/>
          </a:xfrm>
          <a:prstGeom prst="roundRect">
            <a:avLst>
              <a:gd name="adj" fmla="val 50000"/>
            </a:avLst>
          </a:prstGeom>
          <a:solidFill>
            <a:srgbClr val="087F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04F9A-A2C4-4A9E-8C1E-DA5E631F5452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87FE8"/>
                </a:solidFill>
              </a:defRPr>
            </a:pPr>
            <a:r>
              <a:rPr sz="900" b="1" i="0">
                <a:solidFill>
                  <a:srgbClr val="087FE8"/>
                </a:solidFill>
              </a:rPr>
              <a:t>ALERT &amp; EVENT DISPATCH CENTER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821C0E-2C3F-4850-9EF6-60CF8B157FE3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 i="0">
                <a:solidFill>
                  <a:srgbClr val="5C6F87"/>
                </a:solidFill>
              </a:defRPr>
            </a:pPr>
            <a:r>
              <a:rPr sz="900" b="0" i="0">
                <a:solidFill>
                  <a:srgbClr val="5C6F87"/>
                </a:solidFill>
              </a:rPr>
              <a:t>07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4E4EEE9-160C-489A-963F-F15083795CA4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11125200" cy="0"/>
          </a:xfrm>
          <a:prstGeom prst="line">
            <a:avLst/>
          </a:prstGeom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A2F83F-2C68-42F5-B0A3-4EC8427758E4}"/>
              </a:ext>
            </a:extLst>
          </p:cNvPr>
          <p:cNvSpPr>
            <a:spLocks noGrp="1"/>
          </p:cNvSpPr>
          <p:nvPr/>
        </p:nvSpPr>
        <p:spPr>
          <a:xfrm>
            <a:off x="781050" y="11239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 i="0">
                <a:solidFill>
                  <a:srgbClr val="0B2545"/>
                </a:solidFill>
              </a:defRPr>
            </a:pPr>
            <a:r>
              <a:rPr sz="2700" b="1" i="0">
                <a:solidFill>
                  <a:srgbClr val="0B2545"/>
                </a:solidFill>
              </a:rPr>
              <a:t>Response actions and event activity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2B33B-461B-4A08-BB5B-95AD3EFE475B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5C6F87"/>
                </a:solidFill>
              </a:defRPr>
            </a:pPr>
            <a:r>
              <a:rPr sz="1425" b="0" i="0">
                <a:solidFill>
                  <a:srgbClr val="5C6F87"/>
                </a:solidFill>
              </a:rPr>
              <a:t>The response controls sit directly above a timestamped activity record.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7548" y="2686050"/>
            <a:ext cx="10076904" cy="2108549"/>
          </a:xfrm>
          <a:prstGeom prst="roundRect">
            <a:avLst>
              <a:gd name="adj" fmla="val 10714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369CB72-EACB-42C6-832B-D8EE2A08BF90}"/>
              </a:ext>
            </a:extLst>
          </p:cNvPr>
          <p:cNvSpPr>
            <a:spLocks noGrp="1"/>
          </p:cNvSpPr>
          <p:nvPr/>
        </p:nvSpPr>
        <p:spPr>
          <a:xfrm>
            <a:off x="952500" y="50958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 i="0">
                <a:solidFill>
                  <a:srgbClr val="0B2545"/>
                </a:solidFill>
              </a:defRPr>
            </a:pPr>
            <a:r>
              <a:rPr sz="1950" b="1" i="0">
                <a:solidFill>
                  <a:srgbClr val="0B2545"/>
                </a:solidFill>
              </a:rPr>
              <a:t>Five response actions remain within the event workspace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36FBBC-55B2-4550-959D-176C57DB2AEC}"/>
              </a:ext>
            </a:extLst>
          </p:cNvPr>
          <p:cNvSpPr>
            <a:spLocks noGrp="1"/>
          </p:cNvSpPr>
          <p:nvPr/>
        </p:nvSpPr>
        <p:spPr>
          <a:xfrm>
            <a:off x="1524000" y="571500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0" i="0">
                <a:solidFill>
                  <a:srgbClr val="5C6F87"/>
                </a:solidFill>
              </a:defRPr>
            </a:pPr>
            <a:r>
              <a:rPr sz="1575" b="0" i="0">
                <a:solidFill>
                  <a:srgbClr val="5C6F87"/>
                </a:solidFill>
              </a:rPr>
              <a:t>Event Activity shows when the event arrived and when it was assigned to Operations Lead.</a:t>
            </a:r>
          </a:p>
        </p:txBody>
      </p:sp>
    </p:spTree>
    <p:extLst>
      <p:ext uri="{BB962C8B-B14F-4D97-AF65-F5344CB8AC3E}">
        <p14:creationId xmlns:p14="http://schemas.microsoft.com/office/powerpoint/2010/main" val="16193759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DocSecurity>0</DocSecurity>
  <PresentationFormat>Widescreen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Javier Leon</cp:lastModifiedBy>
  <cp:revision>1</cp:revision>
  <dcterms:created xsi:type="dcterms:W3CDTF">2026-09-08T02:11:46Z</dcterms:created>
  <dcterms:modified xsi:type="dcterms:W3CDTF">2026-09-08T02:20:08Z</dcterms:modified>
</cp:coreProperties>
</file>